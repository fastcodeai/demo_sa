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72" r:id="rId4"/>
    <p:sldId id="273" r:id="rId5"/>
    <p:sldId id="274" r:id="rId6"/>
    <p:sldId id="27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E715F-0ED7-F9BD-C52E-44940A9F05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DAF9C2-5D28-487C-34A5-C920F0CB87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43E738-9823-9BCF-B311-C0EA95AD9E73}"/>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5" name="Footer Placeholder 4">
            <a:extLst>
              <a:ext uri="{FF2B5EF4-FFF2-40B4-BE49-F238E27FC236}">
                <a16:creationId xmlns:a16="http://schemas.microsoft.com/office/drawing/2014/main" id="{54F19154-99E0-DB31-A76F-53C8FC7849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E064A5-C334-0B51-4E00-ACCB91DF4495}"/>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3732378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E9269-2BEE-B35B-9D64-85D13284FE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E2488F-5B39-7623-DED3-7F4BE2F19C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33DD52-83BB-412F-B454-2F3929683177}"/>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5" name="Footer Placeholder 4">
            <a:extLst>
              <a:ext uri="{FF2B5EF4-FFF2-40B4-BE49-F238E27FC236}">
                <a16:creationId xmlns:a16="http://schemas.microsoft.com/office/drawing/2014/main" id="{15590045-CE50-B5A4-2D73-749E9F9E9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07C1D-DC5C-F068-887B-DCCDE1EDA33A}"/>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80964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809AF-D073-FEBC-99A9-5FDE1DFDA9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1EE691-B985-951B-2900-6669A37282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A148B8-7CB4-2402-3239-8F83FB36F198}"/>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5" name="Footer Placeholder 4">
            <a:extLst>
              <a:ext uri="{FF2B5EF4-FFF2-40B4-BE49-F238E27FC236}">
                <a16:creationId xmlns:a16="http://schemas.microsoft.com/office/drawing/2014/main" id="{F1D43AE8-C14E-4BE1-4907-9200956849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E758F2-2248-FBF8-93D8-322DE9C98F3B}"/>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1356807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6BD3C-B25D-3E95-602D-181DE6186C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D4F0C1-DCD8-B5CB-B992-4000E18E3E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30D12D-D950-CF4C-EF29-84455605D4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998A7F-AC7C-D2DA-D7B8-2DCDAF7CF7AE}"/>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6" name="Footer Placeholder 5">
            <a:extLst>
              <a:ext uri="{FF2B5EF4-FFF2-40B4-BE49-F238E27FC236}">
                <a16:creationId xmlns:a16="http://schemas.microsoft.com/office/drawing/2014/main" id="{99784918-2E46-341D-24E1-74D1900A62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8417F-E7E2-2C47-CEC1-5A47A1075BBE}"/>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936289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F005-0C90-F203-43BD-5FC1115B2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4AFD23-2E97-751D-E2CF-FE510A5FD7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868342-9528-232D-95A3-BFE0E7EDC6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AE8F93-3B75-2A33-0C2C-AB17988B8D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7BA2B6-9695-754E-7076-AA7B98A6B1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D18E7A-6E4E-36CD-0AE4-2E350700A48D}"/>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8" name="Footer Placeholder 7">
            <a:extLst>
              <a:ext uri="{FF2B5EF4-FFF2-40B4-BE49-F238E27FC236}">
                <a16:creationId xmlns:a16="http://schemas.microsoft.com/office/drawing/2014/main" id="{56948D68-FE68-B6D1-4412-94BCC6A63B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1B58B1-2996-8B72-A052-AF96F522CAF9}"/>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2283372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537C3-7FA5-2902-E706-CBDD302050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BB5001-B915-18D2-431C-8CE3665DF19F}"/>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4" name="Footer Placeholder 3">
            <a:extLst>
              <a:ext uri="{FF2B5EF4-FFF2-40B4-BE49-F238E27FC236}">
                <a16:creationId xmlns:a16="http://schemas.microsoft.com/office/drawing/2014/main" id="{966B86EB-79AC-918A-3D7D-F8BD00C619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76CC7A-4DE2-786C-A0CA-D371DF41B5E8}"/>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3457490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04341-1E1C-3CCD-33D1-688E781E9B4B}"/>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3" name="Footer Placeholder 2">
            <a:extLst>
              <a:ext uri="{FF2B5EF4-FFF2-40B4-BE49-F238E27FC236}">
                <a16:creationId xmlns:a16="http://schemas.microsoft.com/office/drawing/2014/main" id="{75B785D9-477E-6BAF-5D82-956B07CBE0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D494CE-EA61-33F8-0DD4-8C48F1716A0E}"/>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1076411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56304-D2A9-E977-95E5-2C2D2B2749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9A3729-5016-A7AD-6A85-8F97DEF110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B911B5-2475-FC4D-ED1C-122AD7AE74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092AF-CE38-4D05-B9B3-92B1DF75BB91}"/>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6" name="Footer Placeholder 5">
            <a:extLst>
              <a:ext uri="{FF2B5EF4-FFF2-40B4-BE49-F238E27FC236}">
                <a16:creationId xmlns:a16="http://schemas.microsoft.com/office/drawing/2014/main" id="{925A20C3-F775-A9E9-0D71-295A72208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E504A1-07AB-D692-9B6D-D92BDBA3C223}"/>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1123623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1DBFE-2E31-F537-7F37-AA28BB0295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74904E-0D2E-44B3-7A8C-2A27CDE556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6A1C80-9027-166D-9F52-84097253A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9BD732-BF41-42FE-D6D9-5224A04C9AF6}"/>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6" name="Footer Placeholder 5">
            <a:extLst>
              <a:ext uri="{FF2B5EF4-FFF2-40B4-BE49-F238E27FC236}">
                <a16:creationId xmlns:a16="http://schemas.microsoft.com/office/drawing/2014/main" id="{821723A7-95D7-ED64-E377-1A2711BBDE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F6CE3C-FD2E-6C92-D4FE-4DF0CBE13DF6}"/>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392422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D8777-4CC4-0679-8971-EACD8BE8AA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CC6EA5-9680-F7EA-1937-472DCFE2E6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753C5-876C-3F48-D787-5F6746B6330B}"/>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5" name="Footer Placeholder 4">
            <a:extLst>
              <a:ext uri="{FF2B5EF4-FFF2-40B4-BE49-F238E27FC236}">
                <a16:creationId xmlns:a16="http://schemas.microsoft.com/office/drawing/2014/main" id="{4A90090B-ED85-9DEF-550C-58443263C4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89B7E7-C940-A891-D8A6-E34667D6FB31}"/>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2568891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C6EF1D-9981-0B97-210C-EDEBAD2B65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A0D358-4F17-E3A7-188E-ED99EDE695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4A6AB4-3E27-0164-C307-4D3A2D5BB361}"/>
              </a:ext>
            </a:extLst>
          </p:cNvPr>
          <p:cNvSpPr>
            <a:spLocks noGrp="1"/>
          </p:cNvSpPr>
          <p:nvPr>
            <p:ph type="dt" sz="half" idx="10"/>
          </p:nvPr>
        </p:nvSpPr>
        <p:spPr/>
        <p:txBody>
          <a:bodyPr/>
          <a:lstStyle/>
          <a:p>
            <a:fld id="{4811C061-C8D4-44C7-98B3-9EF22BCE1815}" type="datetimeFigureOut">
              <a:rPr lang="en-US" smtClean="0"/>
              <a:t>4/27/2026</a:t>
            </a:fld>
            <a:endParaRPr lang="en-US"/>
          </a:p>
        </p:txBody>
      </p:sp>
      <p:sp>
        <p:nvSpPr>
          <p:cNvPr id="5" name="Footer Placeholder 4">
            <a:extLst>
              <a:ext uri="{FF2B5EF4-FFF2-40B4-BE49-F238E27FC236}">
                <a16:creationId xmlns:a16="http://schemas.microsoft.com/office/drawing/2014/main" id="{8BD10E0D-C632-956E-E3CE-4D58CD89B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D4DA4-2B15-D5B7-F293-A56BEE4430A9}"/>
              </a:ext>
            </a:extLst>
          </p:cNvPr>
          <p:cNvSpPr>
            <a:spLocks noGrp="1"/>
          </p:cNvSpPr>
          <p:nvPr>
            <p:ph type="sldNum" sz="quarter" idx="12"/>
          </p:nvPr>
        </p:nvSpPr>
        <p:spPr/>
        <p:txBody>
          <a:bodyPr/>
          <a:lstStyle/>
          <a:p>
            <a:fld id="{75A89ABF-EF9C-4E62-A18A-E6D92B78361D}" type="slidenum">
              <a:rPr lang="en-US" smtClean="0"/>
              <a:t>‹#›</a:t>
            </a:fld>
            <a:endParaRPr lang="en-US"/>
          </a:p>
        </p:txBody>
      </p:sp>
    </p:spTree>
    <p:extLst>
      <p:ext uri="{BB962C8B-B14F-4D97-AF65-F5344CB8AC3E}">
        <p14:creationId xmlns:p14="http://schemas.microsoft.com/office/powerpoint/2010/main" val="2654518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BC819F-E505-4420-C24D-DDFA7D7B30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9833A1-383F-0FD5-E2CD-A7BC787F02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26F71D-FBD9-0C5D-C35E-6B3E7CEF9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11C061-C8D4-44C7-98B3-9EF22BCE1815}" type="datetimeFigureOut">
              <a:rPr lang="en-US" smtClean="0"/>
              <a:t>4/27/2026</a:t>
            </a:fld>
            <a:endParaRPr lang="en-US"/>
          </a:p>
        </p:txBody>
      </p:sp>
      <p:sp>
        <p:nvSpPr>
          <p:cNvPr id="5" name="Footer Placeholder 4">
            <a:extLst>
              <a:ext uri="{FF2B5EF4-FFF2-40B4-BE49-F238E27FC236}">
                <a16:creationId xmlns:a16="http://schemas.microsoft.com/office/drawing/2014/main" id="{D8B33BA9-4A7C-7D20-66B0-CE2D00220E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D58B24-1569-C86E-442A-B996BB998B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A89ABF-EF9C-4E62-A18A-E6D92B78361D}" type="slidenum">
              <a:rPr lang="en-US" smtClean="0"/>
              <a:t>‹#›</a:t>
            </a:fld>
            <a:endParaRPr lang="en-US"/>
          </a:p>
        </p:txBody>
      </p:sp>
    </p:spTree>
    <p:extLst>
      <p:ext uri="{BB962C8B-B14F-4D97-AF65-F5344CB8AC3E}">
        <p14:creationId xmlns:p14="http://schemas.microsoft.com/office/powerpoint/2010/main" val="2431101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25D2D9-D8A0-4265-9B28-A17180A34AC4}"/>
              </a:ext>
            </a:extLst>
          </p:cNvPr>
          <p:cNvSpPr txBox="1"/>
          <p:nvPr/>
        </p:nvSpPr>
        <p:spPr>
          <a:xfrm>
            <a:off x="838200" y="365125"/>
            <a:ext cx="10515600" cy="678688"/>
          </a:xfrm>
          <a:prstGeom prst="rect">
            <a:avLst/>
          </a:prstGeom>
          <a:noFill/>
        </p:spPr>
        <p:txBody>
          <a:bodyPr vertOverflow="overflow" vert="horz" wrap="square" rtlCol="0" anchor="t">
            <a:spAutoFit/>
          </a:bodyPr>
          <a:lstStyle/>
          <a:p>
            <a:pPr algn="l"/>
            <a:r>
              <a:rPr lang="en-US" sz="3200">
                <a:latin typeface="Aptos Display"/>
              </a:rPr>
              <a:t>Key Definitions</a:t>
            </a:r>
          </a:p>
        </p:txBody>
      </p:sp>
      <p:sp>
        <p:nvSpPr>
          <p:cNvPr id="4" name="TextBox 3">
            <a:extLst>
              <a:ext uri="{FF2B5EF4-FFF2-40B4-BE49-F238E27FC236}">
                <a16:creationId xmlns:a16="http://schemas.microsoft.com/office/drawing/2014/main" id="{3431D140-E3DC-43DE-BA62-7C750B72641D}"/>
              </a:ext>
            </a:extLst>
          </p:cNvPr>
          <p:cNvSpPr txBox="1"/>
          <p:nvPr/>
        </p:nvSpPr>
        <p:spPr>
          <a:xfrm>
            <a:off x="747268" y="1268349"/>
            <a:ext cx="10333736" cy="4801314"/>
          </a:xfrm>
          <a:prstGeom prst="rect">
            <a:avLst/>
          </a:prstGeom>
          <a:noFill/>
        </p:spPr>
        <p:txBody>
          <a:bodyPr vertOverflow="overflow" vert="horz" wrap="square" rtlCol="0" anchor="t">
            <a:spAutoFit/>
          </a:bodyPr>
          <a:lstStyle/>
          <a:p>
            <a:pPr marL="285750" indent="-285750" algn="l">
              <a:spcAft>
                <a:spcPts val="600"/>
              </a:spcAft>
              <a:buFont typeface="Arial" panose="020B0604020202020204" pitchFamily="34" charset="0"/>
              <a:buChar char="•"/>
            </a:pPr>
            <a:r>
              <a:rPr lang="en-US" sz="1600" b="1" dirty="0">
                <a:latin typeface="Aptos"/>
              </a:rPr>
              <a:t>Two-stage production</a:t>
            </a:r>
            <a:r>
              <a:rPr lang="en-US" sz="1600" dirty="0">
                <a:latin typeface="Aptos"/>
              </a:rPr>
              <a:t>:</a:t>
            </a:r>
          </a:p>
          <a:p>
            <a:pPr marL="742950" lvl="1" indent="-285750">
              <a:spcAft>
                <a:spcPts val="600"/>
              </a:spcAft>
              <a:buFont typeface="Arial" panose="020B0604020202020204" pitchFamily="34" charset="0"/>
              <a:buChar char="•"/>
            </a:pPr>
            <a:r>
              <a:rPr lang="en-US" sz="1600" b="1" dirty="0">
                <a:latin typeface="Aptos"/>
              </a:rPr>
              <a:t>Semi-finished</a:t>
            </a:r>
            <a:r>
              <a:rPr lang="en-US" sz="1600" dirty="0">
                <a:latin typeface="Aptos"/>
              </a:rPr>
              <a:t>: raw materials (active ingredient) &amp; excipients in solution → filled primary containers without packaging (product in a form that can be held but not for sale).</a:t>
            </a:r>
          </a:p>
          <a:p>
            <a:pPr marL="742950" lvl="1" indent="-285750">
              <a:spcAft>
                <a:spcPts val="600"/>
              </a:spcAft>
              <a:buFont typeface="Arial" panose="020B0604020202020204" pitchFamily="34" charset="0"/>
              <a:buChar char="•"/>
            </a:pPr>
            <a:r>
              <a:rPr lang="en-US" sz="1600" b="1" dirty="0">
                <a:latin typeface="Aptos"/>
              </a:rPr>
              <a:t>Finished</a:t>
            </a:r>
            <a:r>
              <a:rPr lang="en-US" sz="1600" dirty="0">
                <a:latin typeface="Aptos"/>
              </a:rPr>
              <a:t>: semi-finished + secondary packaging materials (label, leaflet, box, carton for palletizing) → packaged product for sale.</a:t>
            </a:r>
          </a:p>
          <a:p>
            <a:pPr marL="285750" indent="-285750" algn="l">
              <a:spcAft>
                <a:spcPts val="600"/>
              </a:spcAft>
              <a:buFont typeface="Arial" panose="020B0604020202020204" pitchFamily="34" charset="0"/>
              <a:buChar char="•"/>
            </a:pPr>
            <a:r>
              <a:rPr lang="en-US" sz="1600" b="1" dirty="0">
                <a:latin typeface="Aptos"/>
              </a:rPr>
              <a:t>Two sub-plants</a:t>
            </a:r>
            <a:r>
              <a:rPr lang="en-US" sz="1600" dirty="0">
                <a:latin typeface="Aptos"/>
              </a:rPr>
              <a:t>: glass &amp; plastic containers.</a:t>
            </a:r>
          </a:p>
          <a:p>
            <a:pPr marL="742950" lvl="1" indent="-285750">
              <a:spcAft>
                <a:spcPts val="600"/>
              </a:spcAft>
              <a:buFont typeface="Arial" panose="020B0604020202020204" pitchFamily="34" charset="0"/>
              <a:buChar char="•"/>
            </a:pPr>
            <a:r>
              <a:rPr lang="en-US" sz="1600" b="1" dirty="0">
                <a:latin typeface="Aptos"/>
              </a:rPr>
              <a:t>Glass</a:t>
            </a:r>
            <a:r>
              <a:rPr lang="en-US" sz="1600" dirty="0">
                <a:latin typeface="Aptos"/>
              </a:rPr>
              <a:t>: small volumes — the semi-finished product essentially can be held/stored.</a:t>
            </a:r>
          </a:p>
          <a:p>
            <a:pPr marL="742950" lvl="1" indent="-285750">
              <a:spcAft>
                <a:spcPts val="600"/>
              </a:spcAft>
              <a:buFont typeface="Arial" panose="020B0604020202020204" pitchFamily="34" charset="0"/>
              <a:buChar char="•"/>
            </a:pPr>
            <a:r>
              <a:rPr lang="en-US" sz="1600" b="1" dirty="0">
                <a:latin typeface="Aptos"/>
              </a:rPr>
              <a:t>Plastic</a:t>
            </a:r>
            <a:r>
              <a:rPr lang="en-US" sz="1600" dirty="0">
                <a:latin typeface="Aptos"/>
              </a:rPr>
              <a:t>: large volumes — in practice filling and packaging are done sequentially.</a:t>
            </a:r>
          </a:p>
          <a:p>
            <a:pPr marL="285750" indent="-285750" algn="l">
              <a:spcAft>
                <a:spcPts val="600"/>
              </a:spcAft>
              <a:buFont typeface="Arial" panose="020B0604020202020204" pitchFamily="34" charset="0"/>
              <a:buChar char="•"/>
            </a:pPr>
            <a:r>
              <a:rPr lang="en-US" sz="1600" b="1" dirty="0">
                <a:latin typeface="Aptos"/>
              </a:rPr>
              <a:t>Container type and size </a:t>
            </a:r>
            <a:r>
              <a:rPr lang="en-US" sz="1600" dirty="0">
                <a:latin typeface="Aptos"/>
              </a:rPr>
              <a:t>(Vial, Ampoule, Bottle, Bag / 2, 5, 10, 20, 50, 100, 200, 500, 1000 ml) determine the format.</a:t>
            </a:r>
          </a:p>
          <a:p>
            <a:pPr marL="285750" indent="-285750" algn="l">
              <a:spcAft>
                <a:spcPts val="600"/>
              </a:spcAft>
              <a:buFont typeface="Arial" panose="020B0604020202020204" pitchFamily="34" charset="0"/>
              <a:buChar char="•"/>
            </a:pPr>
            <a:r>
              <a:rPr lang="en-US" sz="1600" b="1" dirty="0">
                <a:latin typeface="Aptos"/>
              </a:rPr>
              <a:t>Production/packaging work center</a:t>
            </a:r>
            <a:r>
              <a:rPr lang="en-US" sz="1600" dirty="0">
                <a:latin typeface="Aptos"/>
              </a:rPr>
              <a:t>: a machine or a line of connected machines that must all operate together to receive the product.</a:t>
            </a:r>
          </a:p>
          <a:p>
            <a:pPr marL="285750" indent="-285750" algn="l">
              <a:spcAft>
                <a:spcPts val="600"/>
              </a:spcAft>
              <a:buFont typeface="Arial" panose="020B0604020202020204" pitchFamily="34" charset="0"/>
              <a:buChar char="•"/>
            </a:pPr>
            <a:r>
              <a:rPr lang="en-US" sz="1600" b="1" dirty="0">
                <a:latin typeface="Aptos"/>
              </a:rPr>
              <a:t>Production/Packaging Cycle</a:t>
            </a:r>
            <a:r>
              <a:rPr lang="en-US" sz="1600" dirty="0">
                <a:latin typeface="Aptos"/>
              </a:rPr>
              <a:t>: the time window in which all formats are used once in the production or packaging work center.</a:t>
            </a:r>
          </a:p>
          <a:p>
            <a:pPr marL="285750" indent="-285750" algn="l">
              <a:spcAft>
                <a:spcPts val="600"/>
              </a:spcAft>
              <a:buFont typeface="Arial" panose="020B0604020202020204" pitchFamily="34" charset="0"/>
              <a:buChar char="•"/>
            </a:pPr>
            <a:r>
              <a:rPr lang="en-US" sz="1600" b="1" dirty="0">
                <a:latin typeface="Aptos"/>
              </a:rPr>
              <a:t>Format Changeover Cycle</a:t>
            </a:r>
            <a:r>
              <a:rPr lang="en-US" sz="1600" dirty="0">
                <a:latin typeface="Aptos"/>
              </a:rPr>
              <a:t>: the time window for using one format.</a:t>
            </a:r>
          </a:p>
          <a:p>
            <a:pPr marL="285750" indent="-285750" algn="l">
              <a:spcAft>
                <a:spcPts val="600"/>
              </a:spcAft>
              <a:buFont typeface="Arial" panose="020B0604020202020204" pitchFamily="34" charset="0"/>
              <a:buChar char="•"/>
            </a:pPr>
            <a:r>
              <a:rPr lang="en-US" sz="1600" b="1" dirty="0">
                <a:latin typeface="Aptos"/>
              </a:rPr>
              <a:t>Product Changeover Cycle</a:t>
            </a:r>
            <a:r>
              <a:rPr lang="en-US" sz="1600" dirty="0">
                <a:latin typeface="Aptos"/>
              </a:rPr>
              <a:t>: the time window for producing one product (semi-finished, finished) — campaign.</a:t>
            </a:r>
          </a:p>
        </p:txBody>
      </p:sp>
    </p:spTree>
    <p:extLst>
      <p:ext uri="{BB962C8B-B14F-4D97-AF65-F5344CB8AC3E}">
        <p14:creationId xmlns:p14="http://schemas.microsoft.com/office/powerpoint/2010/main" val="309318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501207-B72C-4A1F-9971-005CD565057B}"/>
              </a:ext>
            </a:extLst>
          </p:cNvPr>
          <p:cNvSpPr txBox="1"/>
          <p:nvPr/>
        </p:nvSpPr>
        <p:spPr>
          <a:xfrm>
            <a:off x="838200" y="365125"/>
            <a:ext cx="10515600" cy="678688"/>
          </a:xfrm>
          <a:prstGeom prst="rect">
            <a:avLst/>
          </a:prstGeom>
          <a:noFill/>
        </p:spPr>
        <p:txBody>
          <a:bodyPr vertOverflow="overflow" vert="horz" wrap="square" rtlCol="0" anchor="t">
            <a:spAutoFit/>
          </a:bodyPr>
          <a:lstStyle/>
          <a:p>
            <a:pPr algn="l"/>
            <a:r>
              <a:rPr lang="en-US" sz="3200">
                <a:latin typeface="Aptos Display"/>
              </a:rPr>
              <a:t>Capacity Planning</a:t>
            </a:r>
          </a:p>
        </p:txBody>
      </p:sp>
      <p:sp>
        <p:nvSpPr>
          <p:cNvPr id="4" name="TextBox 3">
            <a:extLst>
              <a:ext uri="{FF2B5EF4-FFF2-40B4-BE49-F238E27FC236}">
                <a16:creationId xmlns:a16="http://schemas.microsoft.com/office/drawing/2014/main" id="{AA0BE2D4-797F-480B-856E-A773B6EA8008}"/>
              </a:ext>
            </a:extLst>
          </p:cNvPr>
          <p:cNvSpPr txBox="1"/>
          <p:nvPr/>
        </p:nvSpPr>
        <p:spPr>
          <a:xfrm>
            <a:off x="747268" y="1268349"/>
            <a:ext cx="10333736" cy="4570482"/>
          </a:xfrm>
          <a:prstGeom prst="rect">
            <a:avLst/>
          </a:prstGeom>
          <a:noFill/>
        </p:spPr>
        <p:txBody>
          <a:bodyPr vertOverflow="overflow" vert="horz" wrap="square" rtlCol="0" anchor="t">
            <a:spAutoFit/>
          </a:bodyPr>
          <a:lstStyle/>
          <a:p>
            <a:pPr marL="285750" indent="-285750" algn="l">
              <a:spcAft>
                <a:spcPts val="600"/>
              </a:spcAft>
              <a:buFont typeface="Arial" panose="020B0604020202020204" pitchFamily="34" charset="0"/>
              <a:buChar char="•"/>
            </a:pPr>
            <a:r>
              <a:rPr lang="en-US" sz="1600" b="1" dirty="0">
                <a:latin typeface="Aptos"/>
              </a:rPr>
              <a:t>Rolling 36‑month forecast with binding character for the next 12 months </a:t>
            </a:r>
            <a:r>
              <a:rPr lang="en-US" sz="1600" dirty="0">
                <a:latin typeface="Aptos"/>
              </a:rPr>
              <a:t>after each review/target‑adjustment period (=3 months). The reporting period is set to 1 month.</a:t>
            </a:r>
          </a:p>
          <a:p>
            <a:pPr marL="285750" indent="-285750" algn="l">
              <a:spcAft>
                <a:spcPts val="600"/>
              </a:spcAft>
              <a:buFont typeface="Arial" panose="020B0604020202020204" pitchFamily="34" charset="0"/>
              <a:buChar char="•"/>
            </a:pPr>
            <a:r>
              <a:rPr lang="en-US" sz="1600" dirty="0">
                <a:latin typeface="Aptos"/>
              </a:rPr>
              <a:t>During the </a:t>
            </a:r>
            <a:r>
              <a:rPr lang="en-US" sz="1600" b="1" dirty="0">
                <a:latin typeface="Aptos"/>
              </a:rPr>
              <a:t>reporting/review intervals </a:t>
            </a:r>
            <a:r>
              <a:rPr lang="en-US" sz="1600" dirty="0">
                <a:latin typeface="Aptos"/>
              </a:rPr>
              <a:t>(1 and 3 months), Sales confirms the forecast: for each order or information within the interval, it either reduces forecast quantities (if part of the original forecast) by converting them into orders, or shifts forecast quantities to a later period, or increases/decreases the forecast based on the free production time provided by the plant, market conditions, and new orders received.</a:t>
            </a:r>
          </a:p>
          <a:p>
            <a:pPr marL="285750" indent="-285750" algn="l">
              <a:spcAft>
                <a:spcPts val="600"/>
              </a:spcAft>
              <a:buFont typeface="Arial" panose="020B0604020202020204" pitchFamily="34" charset="0"/>
              <a:buChar char="•"/>
            </a:pPr>
            <a:r>
              <a:rPr lang="en-US" sz="1600" dirty="0">
                <a:latin typeface="Aptos"/>
              </a:rPr>
              <a:t>On the quarterly review, for the next cycle, we examine which forecast quantities did not convert into orders and which were canceled or postponed.</a:t>
            </a:r>
          </a:p>
          <a:p>
            <a:pPr marL="285750" indent="-285750" algn="l">
              <a:spcAft>
                <a:spcPts val="600"/>
              </a:spcAft>
              <a:buFont typeface="Arial" panose="020B0604020202020204" pitchFamily="34" charset="0"/>
              <a:buChar char="•"/>
            </a:pPr>
            <a:r>
              <a:rPr lang="en-US" sz="1600" b="1" dirty="0">
                <a:latin typeface="Aptos"/>
              </a:rPr>
              <a:t>Production line capacity </a:t>
            </a:r>
            <a:r>
              <a:rPr lang="en-US" sz="1600" dirty="0">
                <a:latin typeface="Aptos"/>
              </a:rPr>
              <a:t>(actual production shifts): 52 weeks × (planned shifts/week) − (holiday/vacation shifts) − (preventive maintenance shifts) − (qualification shifts) − (pilot shifts) − (shifts reserved for maximum unplanned breakdowns/delays) − (shifts for expected format changes).</a:t>
            </a:r>
          </a:p>
          <a:p>
            <a:pPr marL="285750" indent="-285750" algn="l">
              <a:spcAft>
                <a:spcPts val="600"/>
              </a:spcAft>
              <a:buFont typeface="Arial" panose="020B0604020202020204" pitchFamily="34" charset="0"/>
              <a:buChar char="•"/>
            </a:pPr>
            <a:r>
              <a:rPr lang="en-US" sz="1600" b="1" dirty="0">
                <a:latin typeface="Aptos"/>
              </a:rPr>
              <a:t>Campaign setup / batch changeover </a:t>
            </a:r>
            <a:r>
              <a:rPr lang="en-US" sz="1600" dirty="0">
                <a:latin typeface="Aptos"/>
              </a:rPr>
              <a:t>times are considered.</a:t>
            </a:r>
          </a:p>
          <a:p>
            <a:pPr marL="285750" indent="-285750" algn="l">
              <a:spcAft>
                <a:spcPts val="600"/>
              </a:spcAft>
              <a:buFont typeface="Arial" panose="020B0604020202020204" pitchFamily="34" charset="0"/>
              <a:buChar char="•"/>
            </a:pPr>
            <a:r>
              <a:rPr lang="en-US" sz="1600" b="1" dirty="0">
                <a:latin typeface="Aptos"/>
              </a:rPr>
              <a:t>Performance Index %: </a:t>
            </a:r>
            <a:r>
              <a:rPr lang="en-US" sz="1600" dirty="0">
                <a:latin typeface="Aptos"/>
              </a:rPr>
              <a:t>actual (based on prior month shift performance) – minimum (last year) – target – benchmark.</a:t>
            </a:r>
          </a:p>
          <a:p>
            <a:pPr marL="285750" indent="-285750" algn="l">
              <a:spcAft>
                <a:spcPts val="600"/>
              </a:spcAft>
              <a:buFont typeface="Arial" panose="020B0604020202020204" pitchFamily="34" charset="0"/>
              <a:buChar char="•"/>
            </a:pPr>
            <a:endParaRPr lang="en-US" sz="1600" dirty="0">
              <a:latin typeface="Aptos"/>
            </a:endParaRPr>
          </a:p>
          <a:p>
            <a:pPr marL="285750" indent="-285750" algn="l">
              <a:spcAft>
                <a:spcPts val="600"/>
              </a:spcAft>
              <a:buFont typeface="Arial" panose="020B0604020202020204" pitchFamily="34" charset="0"/>
              <a:buChar char="•"/>
            </a:pPr>
            <a:r>
              <a:rPr lang="en-US" sz="1600" dirty="0">
                <a:latin typeface="Aptos"/>
              </a:rPr>
              <a:t>(capacity planning file under development)</a:t>
            </a:r>
          </a:p>
        </p:txBody>
      </p:sp>
    </p:spTree>
    <p:extLst>
      <p:ext uri="{BB962C8B-B14F-4D97-AF65-F5344CB8AC3E}">
        <p14:creationId xmlns:p14="http://schemas.microsoft.com/office/powerpoint/2010/main" val="1891333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EA471-BCC8-4978-A9A1-631DF99BF2EB}"/>
              </a:ext>
            </a:extLst>
          </p:cNvPr>
          <p:cNvSpPr txBox="1"/>
          <p:nvPr/>
        </p:nvSpPr>
        <p:spPr>
          <a:xfrm>
            <a:off x="838200" y="365125"/>
            <a:ext cx="10515600" cy="678688"/>
          </a:xfrm>
          <a:prstGeom prst="rect">
            <a:avLst/>
          </a:prstGeom>
          <a:noFill/>
        </p:spPr>
        <p:txBody>
          <a:bodyPr vertOverflow="overflow" vert="horz" wrap="square" rtlCol="0" anchor="t">
            <a:spAutoFit/>
          </a:bodyPr>
          <a:lstStyle/>
          <a:p>
            <a:pPr algn="l"/>
            <a:r>
              <a:rPr lang="en-US" sz="3200">
                <a:latin typeface="Aptos Display"/>
              </a:rPr>
              <a:t>Production Planning &amp; Scheduling</a:t>
            </a:r>
          </a:p>
        </p:txBody>
      </p:sp>
      <p:sp>
        <p:nvSpPr>
          <p:cNvPr id="4" name="TextBox 3">
            <a:extLst>
              <a:ext uri="{FF2B5EF4-FFF2-40B4-BE49-F238E27FC236}">
                <a16:creationId xmlns:a16="http://schemas.microsoft.com/office/drawing/2014/main" id="{8AC7F3F9-7C11-4B38-A70B-DFD13262E7E9}"/>
              </a:ext>
            </a:extLst>
          </p:cNvPr>
          <p:cNvSpPr txBox="1"/>
          <p:nvPr/>
        </p:nvSpPr>
        <p:spPr>
          <a:xfrm>
            <a:off x="747268" y="1268349"/>
            <a:ext cx="10333736" cy="4647426"/>
          </a:xfrm>
          <a:prstGeom prst="rect">
            <a:avLst/>
          </a:prstGeom>
          <a:noFill/>
        </p:spPr>
        <p:txBody>
          <a:bodyPr vertOverflow="overflow" vert="horz" wrap="square" rtlCol="0" anchor="t">
            <a:spAutoFit/>
          </a:bodyPr>
          <a:lstStyle/>
          <a:p>
            <a:pPr marL="285750" indent="-285750" algn="l">
              <a:spcAft>
                <a:spcPts val="600"/>
              </a:spcAft>
              <a:buFont typeface="Arial" panose="020B0604020202020204" pitchFamily="34" charset="0"/>
              <a:buChar char="•"/>
            </a:pPr>
            <a:r>
              <a:rPr lang="en-US" sz="1600" b="1" dirty="0">
                <a:latin typeface="Aptos"/>
              </a:rPr>
              <a:t>Plastics</a:t>
            </a:r>
            <a:r>
              <a:rPr lang="en-US" sz="1600" dirty="0">
                <a:latin typeface="Aptos"/>
              </a:rPr>
              <a:t>: there is no possibility to hold semi‑finished stock — schedule the production work center at the same time as the packaging work center, based on actual orders for finished product.</a:t>
            </a:r>
          </a:p>
          <a:p>
            <a:pPr marL="285750" indent="-285750" algn="l">
              <a:spcAft>
                <a:spcPts val="600"/>
              </a:spcAft>
              <a:buFont typeface="Arial" panose="020B0604020202020204" pitchFamily="34" charset="0"/>
              <a:buChar char="•"/>
            </a:pPr>
            <a:r>
              <a:rPr lang="en-US" sz="1600" b="1" dirty="0">
                <a:latin typeface="Aptos"/>
              </a:rPr>
              <a:t>Glass</a:t>
            </a:r>
            <a:r>
              <a:rPr lang="en-US" sz="1600" dirty="0">
                <a:latin typeface="Aptos"/>
              </a:rPr>
              <a:t>: create semi‑finished stock based on sales forecast, and schedule finished product based on orders.</a:t>
            </a:r>
          </a:p>
          <a:p>
            <a:pPr marL="285750" indent="-285750" algn="l">
              <a:spcAft>
                <a:spcPts val="600"/>
              </a:spcAft>
              <a:buFont typeface="Arial" panose="020B0604020202020204" pitchFamily="34" charset="0"/>
              <a:buChar char="•"/>
            </a:pPr>
            <a:r>
              <a:rPr lang="en-US" b="1" dirty="0"/>
              <a:t>Production/Packaging Cycle</a:t>
            </a:r>
            <a:r>
              <a:rPr lang="en-US" sz="1600" dirty="0">
                <a:latin typeface="Aptos"/>
              </a:rPr>
              <a:t>: the period in which all formats are used once in the work center.</a:t>
            </a:r>
          </a:p>
          <a:p>
            <a:pPr marL="742950" lvl="1" indent="-285750">
              <a:spcAft>
                <a:spcPts val="600"/>
              </a:spcAft>
              <a:buFont typeface="Arial" panose="020B0604020202020204" pitchFamily="34" charset="0"/>
              <a:buChar char="•"/>
            </a:pPr>
            <a:r>
              <a:rPr lang="en-US" sz="1600" b="1" dirty="0">
                <a:latin typeface="Aptos"/>
              </a:rPr>
              <a:t>Plastics</a:t>
            </a:r>
            <a:r>
              <a:rPr lang="en-US" sz="1600" dirty="0">
                <a:latin typeface="Aptos"/>
              </a:rPr>
              <a:t>: 6 weeks.</a:t>
            </a:r>
          </a:p>
          <a:p>
            <a:pPr marL="742950" lvl="1" indent="-285750">
              <a:spcAft>
                <a:spcPts val="600"/>
              </a:spcAft>
              <a:buFont typeface="Arial" panose="020B0604020202020204" pitchFamily="34" charset="0"/>
              <a:buChar char="•"/>
            </a:pPr>
            <a:r>
              <a:rPr lang="en-US" sz="1600" b="1" dirty="0">
                <a:latin typeface="Aptos"/>
              </a:rPr>
              <a:t>Glass</a:t>
            </a:r>
            <a:r>
              <a:rPr lang="en-US" sz="1600" dirty="0">
                <a:latin typeface="Aptos"/>
              </a:rPr>
              <a:t>: production 12 weeks / packaging 6 weeks.</a:t>
            </a:r>
          </a:p>
          <a:p>
            <a:pPr marL="285750" indent="-285750" algn="l">
              <a:spcAft>
                <a:spcPts val="600"/>
              </a:spcAft>
              <a:buFont typeface="Arial" panose="020B0604020202020204" pitchFamily="34" charset="0"/>
              <a:buChar char="•"/>
            </a:pPr>
            <a:r>
              <a:rPr lang="en-US" sz="1600" b="1" dirty="0">
                <a:latin typeface="Aptos"/>
              </a:rPr>
              <a:t>Format changeover time</a:t>
            </a:r>
            <a:r>
              <a:rPr lang="en-US" sz="1600" dirty="0">
                <a:latin typeface="Aptos"/>
              </a:rPr>
              <a:t>:</a:t>
            </a:r>
          </a:p>
          <a:p>
            <a:pPr marL="742950" lvl="1" indent="-285750">
              <a:spcAft>
                <a:spcPts val="600"/>
              </a:spcAft>
              <a:buFont typeface="Arial" panose="020B0604020202020204" pitchFamily="34" charset="0"/>
              <a:buChar char="•"/>
            </a:pPr>
            <a:r>
              <a:rPr lang="en-US" sz="1600" b="1" dirty="0">
                <a:latin typeface="Aptos"/>
              </a:rPr>
              <a:t>Minimum</a:t>
            </a:r>
            <a:r>
              <a:rPr lang="en-US" sz="1600" dirty="0">
                <a:latin typeface="Aptos"/>
              </a:rPr>
              <a:t>: 1 production campaign (168 hours) (1 week) or 10 days on some lines → same active ingredient / same format.</a:t>
            </a:r>
          </a:p>
          <a:p>
            <a:pPr marL="742950" lvl="1" indent="-285750">
              <a:spcAft>
                <a:spcPts val="600"/>
              </a:spcAft>
              <a:buFont typeface="Arial" panose="020B0604020202020204" pitchFamily="34" charset="0"/>
              <a:buChar char="•"/>
            </a:pPr>
            <a:r>
              <a:rPr lang="en-US" sz="1600" b="1" dirty="0">
                <a:latin typeface="Aptos"/>
              </a:rPr>
              <a:t>Integer number of campaigns/weeks </a:t>
            </a:r>
            <a:r>
              <a:rPr lang="en-US" sz="1600" dirty="0">
                <a:latin typeface="Aptos"/>
              </a:rPr>
              <a:t>— if the period orders are not enough to fill a production or packaging week, we produce/package orders up to 6 months ahead to meet the minimum changeover time. If that still does not cover the week, we extend to 9 months ahead provided the remaining shelf life is at least 75% of the original shelf life (36 months). Only after completing 6‑month/9‑month orders do we change format before the minimum changeover time.</a:t>
            </a:r>
          </a:p>
          <a:p>
            <a:pPr marL="742950" lvl="1" indent="-285750">
              <a:spcAft>
                <a:spcPts val="600"/>
              </a:spcAft>
              <a:buFont typeface="Arial" panose="020B0604020202020204" pitchFamily="34" charset="0"/>
              <a:buChar char="•"/>
            </a:pPr>
            <a:r>
              <a:rPr lang="en-US" sz="1600" dirty="0">
                <a:latin typeface="Aptos"/>
              </a:rPr>
              <a:t>During the production or packaging cycle, each format is applied only once in the work center, or not at all if there are no period orders.</a:t>
            </a:r>
          </a:p>
        </p:txBody>
      </p:sp>
    </p:spTree>
    <p:extLst>
      <p:ext uri="{BB962C8B-B14F-4D97-AF65-F5344CB8AC3E}">
        <p14:creationId xmlns:p14="http://schemas.microsoft.com/office/powerpoint/2010/main" val="256263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4571A9-EF1A-4420-84B7-2C5BFA3FFF05}"/>
              </a:ext>
            </a:extLst>
          </p:cNvPr>
          <p:cNvSpPr txBox="1"/>
          <p:nvPr/>
        </p:nvSpPr>
        <p:spPr>
          <a:xfrm>
            <a:off x="838200" y="365125"/>
            <a:ext cx="10515600" cy="678688"/>
          </a:xfrm>
          <a:prstGeom prst="rect">
            <a:avLst/>
          </a:prstGeom>
          <a:noFill/>
        </p:spPr>
        <p:txBody>
          <a:bodyPr vertOverflow="overflow" vert="horz" wrap="square" rtlCol="0" anchor="t">
            <a:spAutoFit/>
          </a:bodyPr>
          <a:lstStyle/>
          <a:p>
            <a:pPr algn="l"/>
            <a:r>
              <a:rPr lang="en-US" sz="3200">
                <a:latin typeface="Aptos Display"/>
              </a:rPr>
              <a:t>Production Planning &amp; Scheduling</a:t>
            </a:r>
          </a:p>
        </p:txBody>
      </p:sp>
      <p:sp>
        <p:nvSpPr>
          <p:cNvPr id="4" name="TextBox 3">
            <a:extLst>
              <a:ext uri="{FF2B5EF4-FFF2-40B4-BE49-F238E27FC236}">
                <a16:creationId xmlns:a16="http://schemas.microsoft.com/office/drawing/2014/main" id="{4D315B1A-586F-4927-BA75-27D2C02E9AFF}"/>
              </a:ext>
            </a:extLst>
          </p:cNvPr>
          <p:cNvSpPr txBox="1"/>
          <p:nvPr/>
        </p:nvSpPr>
        <p:spPr>
          <a:xfrm>
            <a:off x="444500" y="1064926"/>
            <a:ext cx="1893443" cy="338582"/>
          </a:xfrm>
          <a:prstGeom prst="rect">
            <a:avLst/>
          </a:prstGeom>
          <a:noFill/>
        </p:spPr>
        <p:txBody>
          <a:bodyPr vertOverflow="overflow" vert="horz" wrap="square" rtlCol="0" anchor="t">
            <a:spAutoFit/>
          </a:bodyPr>
          <a:lstStyle/>
          <a:p>
            <a:pPr algn="l"/>
            <a:r>
              <a:rPr lang="en-US" sz="1600" dirty="0">
                <a:latin typeface="Aptos"/>
              </a:rPr>
              <a:t>Production Cycle</a:t>
            </a:r>
          </a:p>
        </p:txBody>
      </p:sp>
      <p:graphicFrame>
        <p:nvGraphicFramePr>
          <p:cNvPr id="6" name="Table 5">
            <a:extLst>
              <a:ext uri="{FF2B5EF4-FFF2-40B4-BE49-F238E27FC236}">
                <a16:creationId xmlns:a16="http://schemas.microsoft.com/office/drawing/2014/main" id="{A6CB4948-DB10-4705-BA31-6EEACD1E2C75}"/>
              </a:ext>
            </a:extLst>
          </p:cNvPr>
          <p:cNvGraphicFramePr>
            <a:graphicFrameLocks noGrp="1"/>
          </p:cNvGraphicFramePr>
          <p:nvPr/>
        </p:nvGraphicFramePr>
        <p:xfrm>
          <a:off x="2721356" y="1146810"/>
          <a:ext cx="8632442" cy="370840"/>
        </p:xfrm>
        <a:graphic>
          <a:graphicData uri="http://schemas.openxmlformats.org/drawingml/2006/table">
            <a:tbl>
              <a:tblPr firstRow="1" bandRow="1">
                <a:tableStyleId>{5C22544A-7EE6-4342-B048-85BDC9FD1C3A}</a:tableStyleId>
              </a:tblPr>
              <a:tblGrid>
                <a:gridCol w="1233206">
                  <a:extLst>
                    <a:ext uri="{9D8B030D-6E8A-4147-A177-3AD203B41FA5}">
                      <a16:colId xmlns:a16="http://schemas.microsoft.com/office/drawing/2014/main" val="3937665319"/>
                    </a:ext>
                  </a:extLst>
                </a:gridCol>
                <a:gridCol w="1233206">
                  <a:extLst>
                    <a:ext uri="{9D8B030D-6E8A-4147-A177-3AD203B41FA5}">
                      <a16:colId xmlns:a16="http://schemas.microsoft.com/office/drawing/2014/main" val="3097553762"/>
                    </a:ext>
                  </a:extLst>
                </a:gridCol>
                <a:gridCol w="1233206">
                  <a:extLst>
                    <a:ext uri="{9D8B030D-6E8A-4147-A177-3AD203B41FA5}">
                      <a16:colId xmlns:a16="http://schemas.microsoft.com/office/drawing/2014/main" val="2372558410"/>
                    </a:ext>
                  </a:extLst>
                </a:gridCol>
                <a:gridCol w="1233206">
                  <a:extLst>
                    <a:ext uri="{9D8B030D-6E8A-4147-A177-3AD203B41FA5}">
                      <a16:colId xmlns:a16="http://schemas.microsoft.com/office/drawing/2014/main" val="2856786556"/>
                    </a:ext>
                  </a:extLst>
                </a:gridCol>
                <a:gridCol w="1233206">
                  <a:extLst>
                    <a:ext uri="{9D8B030D-6E8A-4147-A177-3AD203B41FA5}">
                      <a16:colId xmlns:a16="http://schemas.microsoft.com/office/drawing/2014/main" val="765213712"/>
                    </a:ext>
                  </a:extLst>
                </a:gridCol>
                <a:gridCol w="1233206">
                  <a:extLst>
                    <a:ext uri="{9D8B030D-6E8A-4147-A177-3AD203B41FA5}">
                      <a16:colId xmlns:a16="http://schemas.microsoft.com/office/drawing/2014/main" val="850381856"/>
                    </a:ext>
                  </a:extLst>
                </a:gridCol>
                <a:gridCol w="1233206">
                  <a:extLst>
                    <a:ext uri="{9D8B030D-6E8A-4147-A177-3AD203B41FA5}">
                      <a16:colId xmlns:a16="http://schemas.microsoft.com/office/drawing/2014/main" val="1521453596"/>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19744160"/>
                  </a:ext>
                </a:extLst>
              </a:tr>
            </a:tbl>
          </a:graphicData>
        </a:graphic>
      </p:graphicFrame>
      <p:sp>
        <p:nvSpPr>
          <p:cNvPr id="7" name="TextBox 6">
            <a:extLst>
              <a:ext uri="{FF2B5EF4-FFF2-40B4-BE49-F238E27FC236}">
                <a16:creationId xmlns:a16="http://schemas.microsoft.com/office/drawing/2014/main" id="{87138E49-CC03-46F9-B1DA-238B57698310}"/>
              </a:ext>
            </a:extLst>
          </p:cNvPr>
          <p:cNvSpPr txBox="1"/>
          <p:nvPr/>
        </p:nvSpPr>
        <p:spPr>
          <a:xfrm>
            <a:off x="444500" y="1479231"/>
            <a:ext cx="2108200" cy="892552"/>
          </a:xfrm>
          <a:prstGeom prst="rect">
            <a:avLst/>
          </a:prstGeom>
          <a:noFill/>
        </p:spPr>
        <p:txBody>
          <a:bodyPr vertOverflow="overflow" vert="horz" wrap="square" rtlCol="0" anchor="t">
            <a:spAutoFit/>
          </a:bodyPr>
          <a:lstStyle/>
          <a:p>
            <a:pPr algn="l"/>
            <a:r>
              <a:rPr lang="en-US" sz="1600" dirty="0">
                <a:latin typeface="Aptos"/>
              </a:rPr>
              <a:t>Format change</a:t>
            </a:r>
            <a:br>
              <a:rPr lang="en-US" sz="1600" dirty="0">
                <a:latin typeface="Aptos"/>
              </a:rPr>
            </a:br>
            <a:r>
              <a:rPr lang="en-US" sz="1200" dirty="0">
                <a:latin typeface="Aptos"/>
              </a:rPr>
              <a:t>(e.g., work center with 4 formats where all had period orders)</a:t>
            </a:r>
            <a:endParaRPr lang="en-US" sz="1600" dirty="0">
              <a:latin typeface="Aptos"/>
            </a:endParaRPr>
          </a:p>
        </p:txBody>
      </p:sp>
      <p:graphicFrame>
        <p:nvGraphicFramePr>
          <p:cNvPr id="9" name="Table 8">
            <a:extLst>
              <a:ext uri="{FF2B5EF4-FFF2-40B4-BE49-F238E27FC236}">
                <a16:creationId xmlns:a16="http://schemas.microsoft.com/office/drawing/2014/main" id="{FF52FF9B-9291-4911-BDE2-49670EE1E86A}"/>
              </a:ext>
            </a:extLst>
          </p:cNvPr>
          <p:cNvGraphicFramePr>
            <a:graphicFrameLocks noGrp="1"/>
          </p:cNvGraphicFramePr>
          <p:nvPr>
            <p:extLst>
              <p:ext uri="{D42A27DB-BD31-4B8C-83A1-F6EECF244321}">
                <p14:modId xmlns:p14="http://schemas.microsoft.com/office/powerpoint/2010/main" val="3686267190"/>
              </p:ext>
            </p:extLst>
          </p:nvPr>
        </p:nvGraphicFramePr>
        <p:xfrm>
          <a:off x="2721356" y="1768856"/>
          <a:ext cx="8715119" cy="370840"/>
        </p:xfrm>
        <a:graphic>
          <a:graphicData uri="http://schemas.openxmlformats.org/drawingml/2006/table">
            <a:tbl>
              <a:tblPr firstRow="1" bandRow="1">
                <a:tableStyleId>{5C22544A-7EE6-4342-B048-85BDC9FD1C3A}</a:tableStyleId>
              </a:tblPr>
              <a:tblGrid>
                <a:gridCol w="1245017">
                  <a:extLst>
                    <a:ext uri="{9D8B030D-6E8A-4147-A177-3AD203B41FA5}">
                      <a16:colId xmlns:a16="http://schemas.microsoft.com/office/drawing/2014/main" val="2776099994"/>
                    </a:ext>
                  </a:extLst>
                </a:gridCol>
                <a:gridCol w="1245017">
                  <a:extLst>
                    <a:ext uri="{9D8B030D-6E8A-4147-A177-3AD203B41FA5}">
                      <a16:colId xmlns:a16="http://schemas.microsoft.com/office/drawing/2014/main" val="3986798232"/>
                    </a:ext>
                  </a:extLst>
                </a:gridCol>
                <a:gridCol w="1245017">
                  <a:extLst>
                    <a:ext uri="{9D8B030D-6E8A-4147-A177-3AD203B41FA5}">
                      <a16:colId xmlns:a16="http://schemas.microsoft.com/office/drawing/2014/main" val="166492008"/>
                    </a:ext>
                  </a:extLst>
                </a:gridCol>
                <a:gridCol w="1245017">
                  <a:extLst>
                    <a:ext uri="{9D8B030D-6E8A-4147-A177-3AD203B41FA5}">
                      <a16:colId xmlns:a16="http://schemas.microsoft.com/office/drawing/2014/main" val="1346032691"/>
                    </a:ext>
                  </a:extLst>
                </a:gridCol>
                <a:gridCol w="1245017">
                  <a:extLst>
                    <a:ext uri="{9D8B030D-6E8A-4147-A177-3AD203B41FA5}">
                      <a16:colId xmlns:a16="http://schemas.microsoft.com/office/drawing/2014/main" val="296100260"/>
                    </a:ext>
                  </a:extLst>
                </a:gridCol>
                <a:gridCol w="1245017">
                  <a:extLst>
                    <a:ext uri="{9D8B030D-6E8A-4147-A177-3AD203B41FA5}">
                      <a16:colId xmlns:a16="http://schemas.microsoft.com/office/drawing/2014/main" val="1138076318"/>
                    </a:ext>
                  </a:extLst>
                </a:gridCol>
                <a:gridCol w="1245017">
                  <a:extLst>
                    <a:ext uri="{9D8B030D-6E8A-4147-A177-3AD203B41FA5}">
                      <a16:colId xmlns:a16="http://schemas.microsoft.com/office/drawing/2014/main" val="2913641244"/>
                    </a:ext>
                  </a:extLst>
                </a:gridCol>
              </a:tblGrid>
              <a:tr h="370840">
                <a:tc>
                  <a:txBody>
                    <a:bodyPr/>
                    <a:lstStyle/>
                    <a:p>
                      <a:r>
                        <a:rPr lang="en-US" dirty="0"/>
                        <a:t>Campaign</a:t>
                      </a:r>
                    </a:p>
                  </a:txBody>
                  <a:tcPr>
                    <a:solidFill>
                      <a:schemeClr val="tx2">
                        <a:lumMod val="25000"/>
                        <a:lumOff val="75000"/>
                      </a:schemeClr>
                    </a:solidFill>
                  </a:tcPr>
                </a:tc>
                <a:tc>
                  <a:txBody>
                    <a:bodyPr/>
                    <a:lstStyle/>
                    <a:p>
                      <a:r>
                        <a:rPr lang="en-US" dirty="0"/>
                        <a:t>Campaign</a:t>
                      </a:r>
                    </a:p>
                  </a:txBody>
                  <a:tcPr>
                    <a:solidFill>
                      <a:schemeClr val="tx2">
                        <a:lumMod val="25000"/>
                        <a:lumOff val="75000"/>
                      </a:schemeClr>
                    </a:solidFill>
                  </a:tcPr>
                </a:tc>
                <a:tc>
                  <a:txBody>
                    <a:bodyPr/>
                    <a:lstStyle/>
                    <a:p>
                      <a:r>
                        <a:rPr lang="en-US" dirty="0"/>
                        <a:t>Campaign</a:t>
                      </a:r>
                    </a:p>
                  </a:txBody>
                  <a:tcPr>
                    <a:solidFill>
                      <a:schemeClr val="tx2">
                        <a:lumMod val="50000"/>
                        <a:lumOff val="50000"/>
                      </a:schemeClr>
                    </a:solidFill>
                  </a:tcPr>
                </a:tc>
                <a:tc>
                  <a:txBody>
                    <a:bodyPr/>
                    <a:lstStyle/>
                    <a:p>
                      <a:r>
                        <a:rPr lang="en-US" dirty="0"/>
                        <a:t>Campaign</a:t>
                      </a:r>
                    </a:p>
                  </a:txBody>
                  <a:tcPr>
                    <a:solidFill>
                      <a:schemeClr val="accent1">
                        <a:lumMod val="60000"/>
                        <a:lumOff val="40000"/>
                      </a:schemeClr>
                    </a:solidFill>
                  </a:tcPr>
                </a:tc>
                <a:tc>
                  <a:txBody>
                    <a:bodyPr/>
                    <a:lstStyle/>
                    <a:p>
                      <a:r>
                        <a:rPr lang="en-US" dirty="0"/>
                        <a:t>Campaign</a:t>
                      </a:r>
                    </a:p>
                  </a:txBody>
                  <a:tcPr>
                    <a:solidFill>
                      <a:schemeClr val="accent1">
                        <a:lumMod val="60000"/>
                        <a:lumOff val="40000"/>
                      </a:schemeClr>
                    </a:solidFill>
                  </a:tcPr>
                </a:tc>
                <a:tc>
                  <a:txBody>
                    <a:bodyPr/>
                    <a:lstStyle/>
                    <a:p>
                      <a:r>
                        <a:rPr lang="en-US" dirty="0"/>
                        <a:t>Campaign</a:t>
                      </a:r>
                    </a:p>
                  </a:txBody>
                  <a:tcPr>
                    <a:solidFill>
                      <a:schemeClr val="accent1">
                        <a:lumMod val="60000"/>
                        <a:lumOff val="40000"/>
                      </a:schemeClr>
                    </a:solidFill>
                  </a:tcPr>
                </a:tc>
                <a:tc>
                  <a:txBody>
                    <a:bodyPr/>
                    <a:lstStyle/>
                    <a:p>
                      <a:r>
                        <a:rPr lang="en-US" dirty="0"/>
                        <a:t>Campaign</a:t>
                      </a:r>
                    </a:p>
                  </a:txBody>
                  <a:tcPr>
                    <a:solidFill>
                      <a:schemeClr val="tx2">
                        <a:lumMod val="75000"/>
                        <a:lumOff val="25000"/>
                      </a:schemeClr>
                    </a:solidFill>
                  </a:tcPr>
                </a:tc>
                <a:extLst>
                  <a:ext uri="{0D108BD9-81ED-4DB2-BD59-A6C34878D82A}">
                    <a16:rowId xmlns:a16="http://schemas.microsoft.com/office/drawing/2014/main" val="810854226"/>
                  </a:ext>
                </a:extLst>
              </a:tr>
            </a:tbl>
          </a:graphicData>
        </a:graphic>
      </p:graphicFrame>
      <p:sp>
        <p:nvSpPr>
          <p:cNvPr id="10" name="TextBox 9">
            <a:extLst>
              <a:ext uri="{FF2B5EF4-FFF2-40B4-BE49-F238E27FC236}">
                <a16:creationId xmlns:a16="http://schemas.microsoft.com/office/drawing/2014/main" id="{E5A8604F-AEC8-4079-B176-8FB6554EA659}"/>
              </a:ext>
            </a:extLst>
          </p:cNvPr>
          <p:cNvSpPr txBox="1"/>
          <p:nvPr/>
        </p:nvSpPr>
        <p:spPr>
          <a:xfrm>
            <a:off x="618744" y="2499837"/>
            <a:ext cx="10598404" cy="3293237"/>
          </a:xfrm>
          <a:prstGeom prst="rect">
            <a:avLst/>
          </a:prstGeom>
          <a:noFill/>
        </p:spPr>
        <p:txBody>
          <a:bodyPr vertOverflow="overflow" vert="horz" wrap="square" rtlCol="0" anchor="t">
            <a:spAutoFit/>
          </a:bodyPr>
          <a:lstStyle/>
          <a:p>
            <a:pPr algn="l"/>
            <a:r>
              <a:rPr lang="en-US" sz="1600" b="1" dirty="0">
                <a:latin typeface="Aptos"/>
              </a:rPr>
              <a:t>Semi‑finished product changeover time in production</a:t>
            </a:r>
          </a:p>
          <a:p>
            <a:pPr marL="285750" indent="-285750" algn="l">
              <a:buFont typeface="Arial" panose="020B0604020202020204" pitchFamily="34" charset="0"/>
              <a:buChar char="•"/>
            </a:pPr>
            <a:r>
              <a:rPr lang="en-US" sz="1600" dirty="0">
                <a:latin typeface="Aptos"/>
              </a:rPr>
              <a:t>Ideal: 1 product in the maximum possible batch size.</a:t>
            </a:r>
          </a:p>
          <a:p>
            <a:pPr marL="285750" indent="-285750" algn="l">
              <a:buFont typeface="Arial" panose="020B0604020202020204" pitchFamily="34" charset="0"/>
              <a:buChar char="•"/>
            </a:pPr>
            <a:r>
              <a:rPr lang="en-US" sz="1600" dirty="0">
                <a:latin typeface="Aptos"/>
              </a:rPr>
              <a:t>Smaller alternative batch sizes ("sub‑batches") are defined based on sterilization cycles.</a:t>
            </a:r>
          </a:p>
          <a:p>
            <a:pPr marL="285750" indent="-285750" algn="l">
              <a:buFont typeface="Arial" panose="020B0604020202020204" pitchFamily="34" charset="0"/>
              <a:buChar char="•"/>
            </a:pPr>
            <a:r>
              <a:rPr lang="en-US" sz="1600" dirty="0">
                <a:latin typeface="Aptos"/>
              </a:rPr>
              <a:t>Glass liquids: target is to cover the campaign with 1 product for 6‑month semi‑finished stock (9 months if 36‑month shelf life) — maximum batches + sub‑batch if needed.</a:t>
            </a:r>
          </a:p>
          <a:p>
            <a:pPr marL="285750" indent="-285750" algn="l">
              <a:buFont typeface="Arial" panose="020B0604020202020204" pitchFamily="34" charset="0"/>
              <a:buChar char="•"/>
            </a:pPr>
            <a:r>
              <a:rPr lang="en-US" sz="1600" dirty="0">
                <a:latin typeface="Aptos"/>
              </a:rPr>
              <a:t>Glass solids: similarly — (9 months if we are &gt;75% of active ingredient shelf life) — if the week cannot be filled, we close the work center.</a:t>
            </a:r>
          </a:p>
          <a:p>
            <a:pPr marL="285750" indent="-285750" algn="l">
              <a:buFont typeface="Arial" panose="020B0604020202020204" pitchFamily="34" charset="0"/>
              <a:buChar char="•"/>
            </a:pPr>
            <a:r>
              <a:rPr lang="en-US" sz="1600" dirty="0">
                <a:latin typeface="Aptos"/>
              </a:rPr>
              <a:t>We purchase as many raw‑material solid batches as needed so that the remainder left when dividing Remainder [&lt;#Batches&gt;×&lt;kg/batch&gt; / &lt;weekly work‑center fill&gt;] is minimal, between the feasible # of batches required for raw‑material needs &gt;3 months and &lt;6 months.</a:t>
            </a:r>
          </a:p>
          <a:p>
            <a:pPr marL="285750" indent="-285750" algn="l">
              <a:buFont typeface="Arial" panose="020B0604020202020204" pitchFamily="34" charset="0"/>
              <a:buChar char="•"/>
            </a:pPr>
            <a:r>
              <a:rPr lang="en-US" sz="1600" dirty="0">
                <a:latin typeface="Aptos"/>
              </a:rPr>
              <a:t>Plastics: target 1 product based on semi‑finished orders for 6 weeks (next cycle) — if the campaign is not completed we extend to 3‑month orders until filled, otherwise a reduced campaign — always an integer number of batches (if orders do not absorb it, we package it into IC).</a:t>
            </a:r>
          </a:p>
        </p:txBody>
      </p:sp>
      <p:sp>
        <p:nvSpPr>
          <p:cNvPr id="11" name="TextBox 10">
            <a:extLst>
              <a:ext uri="{FF2B5EF4-FFF2-40B4-BE49-F238E27FC236}">
                <a16:creationId xmlns:a16="http://schemas.microsoft.com/office/drawing/2014/main" id="{A2AEEAEC-D377-4BF9-9163-791A63E6F896}"/>
              </a:ext>
            </a:extLst>
          </p:cNvPr>
          <p:cNvSpPr txBox="1"/>
          <p:nvPr/>
        </p:nvSpPr>
        <p:spPr>
          <a:xfrm>
            <a:off x="755396" y="5697728"/>
            <a:ext cx="10598404" cy="830961"/>
          </a:xfrm>
          <a:prstGeom prst="rect">
            <a:avLst/>
          </a:prstGeom>
          <a:noFill/>
        </p:spPr>
        <p:txBody>
          <a:bodyPr vertOverflow="overflow" vert="horz" wrap="square" rtlCol="0" anchor="t">
            <a:spAutoFit/>
          </a:bodyPr>
          <a:lstStyle/>
          <a:p>
            <a:pPr algn="l"/>
            <a:r>
              <a:rPr lang="en-US" sz="1600" b="1" dirty="0">
                <a:latin typeface="Aptos"/>
              </a:rPr>
              <a:t>Semi‑finished product changeover time in packaging</a:t>
            </a:r>
          </a:p>
          <a:p>
            <a:pPr marL="285750" indent="-285750" algn="l">
              <a:buFont typeface="Arial" panose="020B0604020202020204" pitchFamily="34" charset="0"/>
              <a:buChar char="•"/>
            </a:pPr>
            <a:r>
              <a:rPr lang="en-US" sz="1600" dirty="0">
                <a:latin typeface="Aptos"/>
              </a:rPr>
              <a:t>We group orders in each work center first by packing size (×5/×10/×20) and then by semi‑finished product (to reduce the risk of mix‑up in the packaging materials part only).</a:t>
            </a:r>
          </a:p>
        </p:txBody>
      </p:sp>
    </p:spTree>
    <p:extLst>
      <p:ext uri="{BB962C8B-B14F-4D97-AF65-F5344CB8AC3E}">
        <p14:creationId xmlns:p14="http://schemas.microsoft.com/office/powerpoint/2010/main" val="1567110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12E4E6-ECB1-42CB-8F47-22DBEB456F9A}"/>
              </a:ext>
            </a:extLst>
          </p:cNvPr>
          <p:cNvSpPr txBox="1"/>
          <p:nvPr/>
        </p:nvSpPr>
        <p:spPr>
          <a:xfrm>
            <a:off x="838200" y="365125"/>
            <a:ext cx="10515600" cy="678688"/>
          </a:xfrm>
          <a:prstGeom prst="rect">
            <a:avLst/>
          </a:prstGeom>
          <a:noFill/>
        </p:spPr>
        <p:txBody>
          <a:bodyPr vertOverflow="overflow" vert="horz" wrap="square" rtlCol="0" anchor="t">
            <a:spAutoFit/>
          </a:bodyPr>
          <a:lstStyle/>
          <a:p>
            <a:pPr algn="l"/>
            <a:r>
              <a:rPr lang="en-US" sz="3200">
                <a:latin typeface="Aptos Display"/>
              </a:rPr>
              <a:t>Customer–Product–Order Rating</a:t>
            </a:r>
          </a:p>
        </p:txBody>
      </p:sp>
      <p:sp>
        <p:nvSpPr>
          <p:cNvPr id="4" name="TextBox 3">
            <a:extLst>
              <a:ext uri="{FF2B5EF4-FFF2-40B4-BE49-F238E27FC236}">
                <a16:creationId xmlns:a16="http://schemas.microsoft.com/office/drawing/2014/main" id="{F715F11C-FEF9-41B4-A9C5-94AD46CFE933}"/>
              </a:ext>
            </a:extLst>
          </p:cNvPr>
          <p:cNvSpPr txBox="1"/>
          <p:nvPr/>
        </p:nvSpPr>
        <p:spPr>
          <a:xfrm>
            <a:off x="747268" y="1268349"/>
            <a:ext cx="10333736" cy="1800493"/>
          </a:xfrm>
          <a:prstGeom prst="rect">
            <a:avLst/>
          </a:prstGeom>
          <a:noFill/>
        </p:spPr>
        <p:txBody>
          <a:bodyPr vertOverflow="overflow" vert="horz" wrap="square" rtlCol="0" anchor="t">
            <a:spAutoFit/>
          </a:bodyPr>
          <a:lstStyle/>
          <a:p>
            <a:pPr algn="l">
              <a:spcAft>
                <a:spcPts val="600"/>
              </a:spcAft>
            </a:pPr>
            <a:r>
              <a:rPr lang="en-US" sz="1600" b="1" dirty="0">
                <a:latin typeface="Aptos"/>
              </a:rPr>
              <a:t>Customer Rating = XYZ</a:t>
            </a:r>
          </a:p>
          <a:p>
            <a:pPr marL="285750" indent="-285750" algn="l">
              <a:spcAft>
                <a:spcPts val="600"/>
              </a:spcAft>
              <a:buFont typeface="Arial" panose="020B0604020202020204" pitchFamily="34" charset="0"/>
              <a:buChar char="•"/>
            </a:pPr>
            <a:r>
              <a:rPr lang="en-US" sz="1600" dirty="0">
                <a:latin typeface="Aptos"/>
              </a:rPr>
              <a:t>X = A: 100% On Time In Full, B: On Time Not Full, C: Not On Time In Full, D: Not On Time Not Full) → priority</a:t>
            </a:r>
          </a:p>
          <a:p>
            <a:pPr marL="285750" indent="-285750" algn="l">
              <a:spcAft>
                <a:spcPts val="600"/>
              </a:spcAft>
              <a:buFont typeface="Arial" panose="020B0604020202020204" pitchFamily="34" charset="0"/>
              <a:buChar char="•"/>
            </a:pPr>
            <a:r>
              <a:rPr lang="en-US" sz="1600" dirty="0">
                <a:latin typeface="Aptos"/>
              </a:rPr>
              <a:t>Y = A: Fixed partial orders / fixed annual total quantity – fixed partial timing, B: Fixed annual total quantity – no fixed timing, C: No fixed annual quantity – fixed timing, D: No fixed quantity – no fixed time) → purchasing strategy</a:t>
            </a:r>
          </a:p>
          <a:p>
            <a:pPr marL="285750" indent="-285750" algn="l">
              <a:spcAft>
                <a:spcPts val="600"/>
              </a:spcAft>
              <a:buFont typeface="Arial" panose="020B0604020202020204" pitchFamily="34" charset="0"/>
              <a:buChar char="•"/>
            </a:pPr>
            <a:r>
              <a:rPr lang="en-US" sz="1600" dirty="0">
                <a:latin typeface="Aptos"/>
              </a:rPr>
              <a:t>Z = Customer/Product profitability: top 25% (A) / 50% (B) / 75% (C) / 100% (D) profitability across all products per semi‑finished category</a:t>
            </a:r>
          </a:p>
        </p:txBody>
      </p:sp>
      <p:sp>
        <p:nvSpPr>
          <p:cNvPr id="5" name="TextBox 4">
            <a:extLst>
              <a:ext uri="{FF2B5EF4-FFF2-40B4-BE49-F238E27FC236}">
                <a16:creationId xmlns:a16="http://schemas.microsoft.com/office/drawing/2014/main" id="{948B6978-D800-4F69-B9E5-32577EB9029A}"/>
              </a:ext>
            </a:extLst>
          </p:cNvPr>
          <p:cNvSpPr txBox="1"/>
          <p:nvPr/>
        </p:nvSpPr>
        <p:spPr>
          <a:xfrm>
            <a:off x="747268" y="3015869"/>
            <a:ext cx="10333736" cy="1477391"/>
          </a:xfrm>
          <a:prstGeom prst="rect">
            <a:avLst/>
          </a:prstGeom>
          <a:noFill/>
        </p:spPr>
        <p:txBody>
          <a:bodyPr vertOverflow="overflow" vert="horz" wrap="square" rtlCol="0" anchor="t">
            <a:spAutoFit/>
          </a:bodyPr>
          <a:lstStyle/>
          <a:p>
            <a:pPr algn="l">
              <a:spcAft>
                <a:spcPts val="600"/>
              </a:spcAft>
            </a:pPr>
            <a:r>
              <a:rPr lang="en-US" sz="1600" b="1" dirty="0">
                <a:latin typeface="Aptos"/>
              </a:rPr>
              <a:t>Order Rating = n + XYZ</a:t>
            </a:r>
          </a:p>
          <a:p>
            <a:pPr marL="285750" indent="-285750" algn="l">
              <a:spcAft>
                <a:spcPts val="600"/>
              </a:spcAft>
              <a:buFont typeface="Arial" panose="020B0604020202020204" pitchFamily="34" charset="0"/>
              <a:buChar char="•"/>
            </a:pPr>
            <a:r>
              <a:rPr lang="en-US" sz="1600" dirty="0">
                <a:latin typeface="Aptos"/>
              </a:rPr>
              <a:t>n = 0 when the order is entered into the system; the order slot(s) has default number 1. If the delivery date passes, it automatically becomes 2, and for each packaging cycle it misses the number increases by 1 grade; i.e., if it doesn't enter the next cycle it becomes 3, then 4, etc.</a:t>
            </a:r>
          </a:p>
          <a:p>
            <a:pPr marL="285750" indent="-285750" algn="l">
              <a:spcAft>
                <a:spcPts val="600"/>
              </a:spcAft>
              <a:buFont typeface="Arial" panose="020B0604020202020204" pitchFamily="34" charset="0"/>
              <a:buChar char="•"/>
            </a:pPr>
            <a:r>
              <a:rPr lang="en-US" sz="1600" dirty="0">
                <a:latin typeface="Aptos"/>
              </a:rPr>
              <a:t>VIP orders (tenders, penalties, etc.) – with Sales Director approval option</a:t>
            </a:r>
          </a:p>
        </p:txBody>
      </p:sp>
    </p:spTree>
    <p:extLst>
      <p:ext uri="{BB962C8B-B14F-4D97-AF65-F5344CB8AC3E}">
        <p14:creationId xmlns:p14="http://schemas.microsoft.com/office/powerpoint/2010/main" val="933502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FF79B7-4E61-447E-ABA8-B4371761F4DF}"/>
              </a:ext>
            </a:extLst>
          </p:cNvPr>
          <p:cNvSpPr txBox="1"/>
          <p:nvPr/>
        </p:nvSpPr>
        <p:spPr>
          <a:xfrm>
            <a:off x="838200" y="365125"/>
            <a:ext cx="10515600" cy="678688"/>
          </a:xfrm>
          <a:prstGeom prst="rect">
            <a:avLst/>
          </a:prstGeom>
          <a:noFill/>
        </p:spPr>
        <p:txBody>
          <a:bodyPr vertOverflow="overflow" vert="horz" wrap="square" rtlCol="0" anchor="t">
            <a:spAutoFit/>
          </a:bodyPr>
          <a:lstStyle/>
          <a:p>
            <a:pPr algn="l"/>
            <a:r>
              <a:rPr lang="en-US" sz="3200">
                <a:latin typeface="Aptos Display"/>
              </a:rPr>
              <a:t>Schedule Definition</a:t>
            </a:r>
          </a:p>
        </p:txBody>
      </p:sp>
      <p:sp>
        <p:nvSpPr>
          <p:cNvPr id="4" name="TextBox 3">
            <a:extLst>
              <a:ext uri="{FF2B5EF4-FFF2-40B4-BE49-F238E27FC236}">
                <a16:creationId xmlns:a16="http://schemas.microsoft.com/office/drawing/2014/main" id="{464F5BCE-4BE9-4521-9579-4470FE6D6738}"/>
              </a:ext>
            </a:extLst>
          </p:cNvPr>
          <p:cNvSpPr txBox="1"/>
          <p:nvPr/>
        </p:nvSpPr>
        <p:spPr>
          <a:xfrm>
            <a:off x="747268" y="1268349"/>
            <a:ext cx="10333736" cy="3524042"/>
          </a:xfrm>
          <a:prstGeom prst="rect">
            <a:avLst/>
          </a:prstGeom>
          <a:noFill/>
        </p:spPr>
        <p:txBody>
          <a:bodyPr vertOverflow="overflow" vert="horz" wrap="square" rtlCol="0" anchor="t">
            <a:spAutoFit/>
          </a:bodyPr>
          <a:lstStyle/>
          <a:p>
            <a:pPr marL="285750" indent="-285750" algn="l">
              <a:spcAft>
                <a:spcPts val="600"/>
              </a:spcAft>
              <a:buFont typeface="Arial" panose="020B0604020202020204" pitchFamily="34" charset="0"/>
              <a:buChar char="•"/>
            </a:pPr>
            <a:r>
              <a:rPr lang="en-US" sz="1600" dirty="0">
                <a:latin typeface="Aptos"/>
              </a:rPr>
              <a:t>We group orders by semi‑finished product (delayed + new + forecast up to 6 months), subtract existing semi‑finished stock, and determine the need for semi‑finished production.</a:t>
            </a:r>
          </a:p>
          <a:p>
            <a:pPr marL="285750" indent="-285750" algn="l">
              <a:spcAft>
                <a:spcPts val="600"/>
              </a:spcAft>
              <a:buFont typeface="Arial" panose="020B0604020202020204" pitchFamily="34" charset="0"/>
              <a:buChar char="•"/>
            </a:pPr>
            <a:r>
              <a:rPr lang="en-US" sz="1600" dirty="0">
                <a:latin typeface="Aptos"/>
              </a:rPr>
              <a:t>For each semi‑finished product, we sort orders by order importance starting with VIP, then the most delayed (the order importance number). For the same delay level, we continue sorting by customer importance (first rating characteristic) and, within the same first importance characteristic, we sort by customer/product profitability (third importance characteristic).</a:t>
            </a:r>
          </a:p>
          <a:p>
            <a:pPr marL="285750" indent="-285750" algn="l">
              <a:spcAft>
                <a:spcPts val="600"/>
              </a:spcAft>
              <a:buFont typeface="Arial" panose="020B0604020202020204" pitchFamily="34" charset="0"/>
              <a:buChar char="•"/>
            </a:pPr>
            <a:r>
              <a:rPr lang="en-US" sz="1600" dirty="0">
                <a:latin typeface="Aptos"/>
              </a:rPr>
              <a:t>Based on the capacity plan (machine performance) and the product campaign changeover rule in the production work center, we calculate the required production campaigns by "cutting" the sorted order lists into weeks. If the weeks in the production cycle are sufficient to cover total campaign needs, we proceed with execution based on importance in the order described below:</a:t>
            </a:r>
          </a:p>
          <a:p>
            <a:pPr marL="285750" indent="-285750" algn="l">
              <a:spcAft>
                <a:spcPts val="600"/>
              </a:spcAft>
              <a:buFont typeface="Arial" panose="020B0604020202020204" pitchFamily="34" charset="0"/>
              <a:buChar char="•"/>
            </a:pPr>
            <a:r>
              <a:rPr lang="en-US" sz="1600" dirty="0">
                <a:latin typeface="Aptos"/>
              </a:rPr>
              <a:t>Between campaigns that include VIP orders, higher profitability (Z characteristic of customer/product rating) comes first. Between weeks with the same delay grade, the X characteristic of customer rating comes first and then Z. Therefore, the placement sequence follows for example: maximum VIP, 2A?A, 2A?B, 2A?C, 2A?D, etc.</a:t>
            </a:r>
          </a:p>
        </p:txBody>
      </p:sp>
    </p:spTree>
    <p:extLst>
      <p:ext uri="{BB962C8B-B14F-4D97-AF65-F5344CB8AC3E}">
        <p14:creationId xmlns:p14="http://schemas.microsoft.com/office/powerpoint/2010/main" val="125702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1473</Words>
  <Application>Microsoft Office PowerPoint</Application>
  <PresentationFormat>Widescreen</PresentationFormat>
  <Paragraphs>63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Vagias Evangelos</dc:creator>
  <cp:lastModifiedBy>Vagias Evangelos</cp:lastModifiedBy>
  <cp:revision>1</cp:revision>
  <dcterms:created xsi:type="dcterms:W3CDTF">2026-04-27T02:27:21Z</dcterms:created>
  <dcterms:modified xsi:type="dcterms:W3CDTF">2026-04-27T02:35:45Z</dcterms:modified>
</cp:coreProperties>
</file>